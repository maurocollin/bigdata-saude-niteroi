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ial Bold" panose="020B0604020202020204" charset="0"/>
      <p:regular r:id="rId13"/>
    </p:embeddedFont>
    <p:embeddedFont>
      <p:font typeface="Arimo" panose="020B0604020202020204" charset="0"/>
      <p:regular r:id="rId14"/>
    </p:embeddedFon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Calibri (MS) Bold Italics" panose="020B0604020202020204" charset="0"/>
      <p:regular r:id="rId17"/>
    </p:embeddedFont>
    <p:embeddedFont>
      <p:font typeface="Calibri (MS) Italics" panose="020B0604020202020204" charset="0"/>
      <p:regular r:id="rId18"/>
    </p:embeddedFont>
    <p:embeddedFont>
      <p:font typeface="TT Rounds Condensed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3.jpe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geo.niteroi.rj.gov.br/maps/7636a753146a426ba56aa15ef086e178" TargetMode="External"/><Relationship Id="rId13" Type="http://schemas.openxmlformats.org/officeDocument/2006/relationships/image" Target="../media/image21.png"/><Relationship Id="rId3" Type="http://schemas.openxmlformats.org/officeDocument/2006/relationships/image" Target="../media/image3.jpeg"/><Relationship Id="rId7" Type="http://schemas.openxmlformats.org/officeDocument/2006/relationships/hyperlink" Target="https://cnes.datasus.gov.br/EstatisticasServlet?path=SCNES_DICIONARIO_DE_DADOS.ZIP" TargetMode="External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nes.datasus.gov.br/pages/downloads/arquivosBaseDados.jsp" TargetMode="External"/><Relationship Id="rId11" Type="http://schemas.openxmlformats.org/officeDocument/2006/relationships/image" Target="../media/image19.png"/><Relationship Id="rId5" Type="http://schemas.openxmlformats.org/officeDocument/2006/relationships/hyperlink" Target="https://ftp.ibge.gov.br/Censos/Censo_Demografico_2022/Agregados_por_Setores_Censitarios/Agregados_por_Bairro_csv/" TargetMode="External"/><Relationship Id="rId10" Type="http://schemas.openxmlformats.org/officeDocument/2006/relationships/hyperlink" Target="https://www.sigeo.niteroi.rj.gov.br/maps/c6c3183b85a24e1bb46a17d89aa55d5f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www.sigeo.niteroi.rj.gov.br/maps/c7f2ebff746a4b1fb3a69999b8c0459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023243" cy="1683544"/>
            <a:chOff x="0" y="0"/>
            <a:chExt cx="2697658" cy="2244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7607" cy="2244725"/>
            </a:xfrm>
            <a:custGeom>
              <a:avLst/>
              <a:gdLst/>
              <a:ahLst/>
              <a:cxnLst/>
              <a:rect l="l" t="t" r="r" b="b"/>
              <a:pathLst>
                <a:path w="2697607" h="2244725">
                  <a:moveTo>
                    <a:pt x="0" y="0"/>
                  </a:moveTo>
                  <a:lnTo>
                    <a:pt x="2697607" y="0"/>
                  </a:lnTo>
                  <a:lnTo>
                    <a:pt x="2697607" y="2244725"/>
                  </a:lnTo>
                  <a:lnTo>
                    <a:pt x="0" y="2244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0" r="-1792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84667" y="1533411"/>
            <a:ext cx="11118675" cy="4219689"/>
            <a:chOff x="0" y="0"/>
            <a:chExt cx="14824900" cy="56262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824897" cy="5044234"/>
            </a:xfrm>
            <a:custGeom>
              <a:avLst/>
              <a:gdLst/>
              <a:ahLst/>
              <a:cxnLst/>
              <a:rect l="l" t="t" r="r" b="b"/>
              <a:pathLst>
                <a:path w="14824897" h="5044234">
                  <a:moveTo>
                    <a:pt x="0" y="0"/>
                  </a:moveTo>
                  <a:lnTo>
                    <a:pt x="14824897" y="0"/>
                  </a:lnTo>
                  <a:lnTo>
                    <a:pt x="14824897" y="5044234"/>
                  </a:lnTo>
                  <a:lnTo>
                    <a:pt x="0" y="50442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266" b="-7266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7265"/>
              <a:ext cx="14824900" cy="49489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pt-BR" sz="9000" b="1" spc="-54" noProof="1">
                  <a:solidFill>
                    <a:srgbClr val="1F4E7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Análise de Indicadores de Saúde Municipal Pública e Privada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083624" y="6159446"/>
            <a:ext cx="12120753" cy="88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</a:pPr>
            <a:r>
              <a:rPr lang="pt-BR" sz="4800" b="1" i="1" noProof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Previsão de Demandas por Bairro em Niterói-RJ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7827" y="7170506"/>
            <a:ext cx="14952345" cy="178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pt-BR" sz="5100" b="1" noProof="1">
                <a:solidFill>
                  <a:srgbClr val="006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Hudson Mata Neves - 202402852175 </a:t>
            </a:r>
          </a:p>
          <a:p>
            <a:pPr algn="ctr">
              <a:lnSpc>
                <a:spcPts val="5508"/>
              </a:lnSpc>
            </a:pPr>
            <a:r>
              <a:rPr lang="pt-BR" sz="5100" b="1" noProof="1">
                <a:solidFill>
                  <a:srgbClr val="006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Mauro Henrique Collin Ferreira - 202403689601 	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0" y="952500"/>
            <a:ext cx="9424035" cy="470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4"/>
              </a:lnSpc>
            </a:pPr>
            <a:r>
              <a:rPr lang="pt-BR" sz="4800" b="1" noProof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Tópicos de Big Data em Python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5559" y="9523095"/>
            <a:ext cx="5536882" cy="48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5"/>
              </a:lnSpc>
            </a:pPr>
            <a:r>
              <a:rPr lang="pt-BR" sz="4079" b="1" noProof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Estácio Niterói – 2026.1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28600" y="172879"/>
            <a:ext cx="2268007" cy="1817284"/>
            <a:chOff x="0" y="0"/>
            <a:chExt cx="3024010" cy="24230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23997" cy="2423033"/>
            </a:xfrm>
            <a:custGeom>
              <a:avLst/>
              <a:gdLst/>
              <a:ahLst/>
              <a:cxnLst/>
              <a:rect l="l" t="t" r="r" b="b"/>
              <a:pathLst>
                <a:path w="3023997" h="2423033">
                  <a:moveTo>
                    <a:pt x="0" y="0"/>
                  </a:moveTo>
                  <a:lnTo>
                    <a:pt x="3023997" y="0"/>
                  </a:lnTo>
                  <a:lnTo>
                    <a:pt x="3023997" y="2423033"/>
                  </a:lnTo>
                  <a:lnTo>
                    <a:pt x="0" y="2423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55B25004-8043-30C1-3575-09FCE5F894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rcRect l="5770" t="21732" r="-5770" b="-50"/>
          <a:stretch>
            <a:fillRect/>
          </a:stretch>
        </p:blipFill>
        <p:spPr>
          <a:xfrm>
            <a:off x="4876800" y="1105416"/>
            <a:ext cx="12718823" cy="8702953"/>
          </a:xfrm>
          <a:prstGeom prst="rect">
            <a:avLst/>
          </a:prstGeom>
          <a:effectLst>
            <a:softEdge rad="152400"/>
          </a:effectLst>
        </p:spPr>
      </p:pic>
      <p:grpSp>
        <p:nvGrpSpPr>
          <p:cNvPr id="4" name="Group 4"/>
          <p:cNvGrpSpPr/>
          <p:nvPr/>
        </p:nvGrpSpPr>
        <p:grpSpPr>
          <a:xfrm>
            <a:off x="1780823" y="98260"/>
            <a:ext cx="14690579" cy="1245356"/>
            <a:chOff x="0" y="0"/>
            <a:chExt cx="19587439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87434" cy="1660472"/>
            </a:xfrm>
            <a:custGeom>
              <a:avLst/>
              <a:gdLst/>
              <a:ahLst/>
              <a:cxnLst/>
              <a:rect l="l" t="t" r="r" b="b"/>
              <a:pathLst>
                <a:path w="19587434" h="1660472">
                  <a:moveTo>
                    <a:pt x="0" y="0"/>
                  </a:moveTo>
                  <a:lnTo>
                    <a:pt x="19587434" y="0"/>
                  </a:lnTo>
                  <a:lnTo>
                    <a:pt x="19587434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851" b="-17985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587439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Introdução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>
                <a:latin typeface="+mj-l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95400" y="1636042"/>
            <a:ext cx="10237013" cy="310029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879"/>
              </a:lnSpc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Arial Bold"/>
                <a:cs typeface="Arial Bold"/>
                <a:sym typeface="Arial Bold"/>
              </a:rPr>
              <a:t>A Problemática:</a:t>
            </a:r>
          </a:p>
          <a:p>
            <a:pPr algn="just">
              <a:lnSpc>
                <a:spcPts val="2879"/>
              </a:lnSpc>
            </a:pPr>
            <a:r>
              <a:rPr lang="pt-BR" sz="3200" noProof="1">
                <a:solidFill>
                  <a:srgbClr val="000000"/>
                </a:solidFill>
                <a:latin typeface="+mj-lt"/>
                <a:ea typeface="Calibri (MS)"/>
                <a:cs typeface="Arial" panose="020B0604020202020204" pitchFamily="34" charset="0"/>
                <a:sym typeface="Calibri (MS)"/>
              </a:rPr>
              <a:t>Niterói sofre com "Desertos Assistenciais". O crescimento populacional acelerado não é acompanhado de forma igualitária pela infraestrutura de saúde.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41475" y="6738001"/>
            <a:ext cx="10874325" cy="3233878"/>
            <a:chOff x="-655887" y="-680077"/>
            <a:chExt cx="13224049" cy="43118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68162" cy="3631760"/>
            </a:xfrm>
            <a:custGeom>
              <a:avLst/>
              <a:gdLst/>
              <a:ahLst/>
              <a:cxnLst/>
              <a:rect l="l" t="t" r="r" b="b"/>
              <a:pathLst>
                <a:path w="12568162" h="3631760">
                  <a:moveTo>
                    <a:pt x="0" y="0"/>
                  </a:moveTo>
                  <a:lnTo>
                    <a:pt x="12568162" y="0"/>
                  </a:lnTo>
                  <a:lnTo>
                    <a:pt x="12568162" y="3631760"/>
                  </a:lnTo>
                  <a:lnTo>
                    <a:pt x="0" y="3631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430" b="-17430"/>
              </a:stretch>
            </a:blipFill>
          </p:spPr>
          <p:txBody>
            <a:bodyPr/>
            <a:lstStyle/>
            <a:p>
              <a:endParaRPr lang="pt-BR" sz="3200" noProof="1">
                <a:latin typeface="+mj-lt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655887" y="-680077"/>
              <a:ext cx="12568163" cy="3641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Arial Bold"/>
                  <a:cs typeface="Arial Bold"/>
                  <a:sym typeface="Arial Bold"/>
                </a:rPr>
                <a:t>Impacto Social:</a:t>
              </a:r>
            </a:p>
            <a:p>
              <a:pPr algn="l">
                <a:lnSpc>
                  <a:spcPts val="2879"/>
                </a:lnSpc>
              </a:pPr>
              <a:r>
                <a:rPr lang="pt-BR" sz="3200" noProof="1">
                  <a:solidFill>
                    <a:srgbClr val="000000"/>
                  </a:solidFill>
                  <a:latin typeface="+mj-lt"/>
                  <a:ea typeface="Arial Bold"/>
                  <a:cs typeface="Arial" panose="020B0604020202020204" pitchFamily="34" charset="0"/>
                  <a:sym typeface="Arial Bold"/>
                </a:rPr>
                <a:t>Converter números brutos em diagnósticos visuais claros para apoiar o planejamento urbano e a expansão estratégica de novas unidades.</a:t>
              </a:r>
            </a:p>
            <a:p>
              <a:pPr marL="434340" lvl="1" indent="-217170" algn="l">
                <a:lnSpc>
                  <a:spcPts val="2879"/>
                </a:lnSpc>
              </a:pPr>
              <a:endParaRPr lang="pt-BR" sz="3200" b="1" noProof="1">
                <a:solidFill>
                  <a:srgbClr val="000000"/>
                </a:solidFill>
                <a:latin typeface="+mj-lt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21" name="TextBox 14">
            <a:extLst>
              <a:ext uri="{FF2B5EF4-FFF2-40B4-BE49-F238E27FC236}">
                <a16:creationId xmlns:a16="http://schemas.microsoft.com/office/drawing/2014/main" id="{6B1FEB09-C1F4-870D-D4A3-E09B235862BF}"/>
              </a:ext>
            </a:extLst>
          </p:cNvPr>
          <p:cNvSpPr txBox="1"/>
          <p:nvPr/>
        </p:nvSpPr>
        <p:spPr>
          <a:xfrm>
            <a:off x="1290460" y="4000513"/>
            <a:ext cx="10237013" cy="310029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879"/>
              </a:lnSpc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Arial Bold"/>
                <a:cs typeface="Arial Bold"/>
                <a:sym typeface="Arial Bold"/>
              </a:rPr>
              <a:t>A Solução Apresentada:</a:t>
            </a:r>
          </a:p>
          <a:p>
            <a:pPr algn="just">
              <a:lnSpc>
                <a:spcPts val="2879"/>
              </a:lnSpc>
            </a:pPr>
            <a:r>
              <a:rPr lang="pt-BR" sz="3200" noProof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Uso de Big Data e Geoprocessamento para cruzar dados do IBGE com o CNES (DATASUS), aplicando análises descritivas, preditivas e prescritivas.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2F55D256-2A68-1BBC-00CA-BB6045EEAD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478496"/>
          </a:xfrm>
          <a:prstGeom prst="rect">
            <a:avLst/>
          </a:prstGeom>
          <a:effectLst>
            <a:softEdge rad="241300"/>
          </a:effectLst>
        </p:spPr>
      </p:pic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Objetivos Geral e Específico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9381" y="2560301"/>
            <a:ext cx="7252335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🎯 Objetivo Geral:</a:t>
            </a:r>
          </a:p>
          <a:p>
            <a:pPr algn="l">
              <a:lnSpc>
                <a:spcPts val="3600"/>
              </a:lnSpc>
            </a:pPr>
            <a:endParaRPr lang="pt-BR" sz="30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pt-BR" sz="2800" noProof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Analisar a infraestrutura de saúde (pública e privada) de Niterói e prever a demanda baseada na densidade populacional.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1990" y="2560301"/>
            <a:ext cx="9342120" cy="367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pt-BR" sz="30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📊 Objetivos Específicos:</a:t>
            </a:r>
          </a:p>
          <a:p>
            <a:pPr algn="l">
              <a:lnSpc>
                <a:spcPts val="3600"/>
              </a:lnSpc>
            </a:pPr>
            <a:endParaRPr lang="pt-BR" sz="30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pt-BR" sz="2800" b="1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Aplicar estatística descritiva (média e desvio padrão).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pt-BR" sz="2800" b="1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Realizar cruzamento de dados (Merge) e Regressão Linear.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pt-BR" sz="2800" b="1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Mapear zonas de assistência e identificar outliers de superlotação.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pt-BR" sz="2800" b="1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Validar a capacidade hospitalar usando parâmetros da OMS.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44727" y="2616822"/>
            <a:ext cx="2042474" cy="698821"/>
            <a:chOff x="0" y="0"/>
            <a:chExt cx="2723299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23261" cy="931799"/>
            </a:xfrm>
            <a:custGeom>
              <a:avLst/>
              <a:gdLst/>
              <a:ahLst/>
              <a:cxnLst/>
              <a:rect l="l" t="t" r="r" b="b"/>
              <a:pathLst>
                <a:path w="2723261" h="931799">
                  <a:moveTo>
                    <a:pt x="0" y="0"/>
                  </a:moveTo>
                  <a:lnTo>
                    <a:pt x="2723261" y="0"/>
                  </a:lnTo>
                  <a:lnTo>
                    <a:pt x="2723261" y="931799"/>
                  </a:lnTo>
                  <a:lnTo>
                    <a:pt x="0" y="931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4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Ferramentas Usadas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0" name="Freeform 10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52949" y="2877819"/>
            <a:ext cx="10490870" cy="4700931"/>
            <a:chOff x="-125447" y="0"/>
            <a:chExt cx="13987828" cy="62679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36934" cy="6017549"/>
            </a:xfrm>
            <a:custGeom>
              <a:avLst/>
              <a:gdLst/>
              <a:ahLst/>
              <a:cxnLst/>
              <a:rect l="l" t="t" r="r" b="b"/>
              <a:pathLst>
                <a:path w="13736934" h="6017549">
                  <a:moveTo>
                    <a:pt x="0" y="0"/>
                  </a:moveTo>
                  <a:lnTo>
                    <a:pt x="13736934" y="0"/>
                  </a:lnTo>
                  <a:lnTo>
                    <a:pt x="13736934" y="6017549"/>
                  </a:lnTo>
                  <a:lnTo>
                    <a:pt x="0" y="6017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04" r="-6204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25447" y="69389"/>
              <a:ext cx="13987828" cy="6198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Linguagem de Programação: </a:t>
              </a:r>
              <a:r>
                <a:rPr lang="pt-BR" sz="28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Python 3..</a:t>
              </a:r>
            </a:p>
            <a:p>
              <a:pPr algn="ctr">
                <a:lnSpc>
                  <a:spcPts val="4320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Engenharia de Dados: </a:t>
              </a:r>
              <a:r>
                <a:rPr lang="pt-BR" sz="28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Pandas e NumPy.</a:t>
              </a:r>
            </a:p>
            <a:p>
              <a:pPr algn="ctr">
                <a:lnSpc>
                  <a:spcPts val="4320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IA e Estatística:</a:t>
              </a:r>
              <a:r>
                <a:rPr lang="pt-BR" sz="32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28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Scikit-Learn e SciPy.</a:t>
              </a:r>
            </a:p>
            <a:p>
              <a:pPr algn="ctr">
                <a:lnSpc>
                  <a:spcPts val="4320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Visualização e Mapas:</a:t>
              </a:r>
              <a:r>
                <a:rPr lang="pt-BR" sz="32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28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Seaborn, Plotly, Folium, Geobr e Pyproj.</a:t>
              </a:r>
            </a:p>
            <a:p>
              <a:pPr algn="ctr">
                <a:lnSpc>
                  <a:spcPts val="4320"/>
                </a:lnSpc>
              </a:pP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Inteligência Artificial Genera</a:t>
              </a:r>
              <a:r>
                <a:rPr lang="pt-BR" sz="3200" b="1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tiva: </a:t>
              </a:r>
              <a:r>
                <a:rPr lang="pt-BR" sz="2800" noProof="1">
                  <a:solidFill>
                    <a:srgbClr val="000000"/>
                  </a:solidFill>
                  <a:latin typeface="+mj-lt"/>
                  <a:ea typeface="Calibri (MS)"/>
                  <a:cs typeface="Calibri (MS)"/>
                  <a:sym typeface="Calibri (MS)"/>
                </a:rPr>
                <a:t>Google Gemini e ChatGPT (Apoio assistivo na arquitetura do código e refinamento visual).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974" y="7977511"/>
            <a:ext cx="3181350" cy="3181350"/>
            <a:chOff x="0" y="0"/>
            <a:chExt cx="4241800" cy="4241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41800" cy="4241800"/>
            </a:xfrm>
            <a:custGeom>
              <a:avLst/>
              <a:gdLst/>
              <a:ahLst/>
              <a:cxnLst/>
              <a:rect l="l" t="t" r="r" b="b"/>
              <a:pathLst>
                <a:path w="4241800" h="4241800">
                  <a:moveTo>
                    <a:pt x="0" y="0"/>
                  </a:moveTo>
                  <a:lnTo>
                    <a:pt x="4241800" y="0"/>
                  </a:lnTo>
                  <a:lnTo>
                    <a:pt x="4241800" y="4241800"/>
                  </a:lnTo>
                  <a:lnTo>
                    <a:pt x="0" y="424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8128" y="6877215"/>
            <a:ext cx="3081042" cy="1251090"/>
            <a:chOff x="0" y="0"/>
            <a:chExt cx="4108056" cy="1668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08069" cy="1668145"/>
            </a:xfrm>
            <a:custGeom>
              <a:avLst/>
              <a:gdLst/>
              <a:ahLst/>
              <a:cxnLst/>
              <a:rect l="l" t="t" r="r" b="b"/>
              <a:pathLst>
                <a:path w="4108069" h="1668145">
                  <a:moveTo>
                    <a:pt x="0" y="0"/>
                  </a:moveTo>
                  <a:lnTo>
                    <a:pt x="4108069" y="0"/>
                  </a:lnTo>
                  <a:lnTo>
                    <a:pt x="4108069" y="1668145"/>
                  </a:lnTo>
                  <a:lnTo>
                    <a:pt x="0" y="1668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21088" y="8923311"/>
            <a:ext cx="1289752" cy="1289752"/>
            <a:chOff x="0" y="0"/>
            <a:chExt cx="1719669" cy="17196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19707" cy="1719707"/>
            </a:xfrm>
            <a:custGeom>
              <a:avLst/>
              <a:gdLst/>
              <a:ahLst/>
              <a:cxnLst/>
              <a:rect l="l" t="t" r="r" b="b"/>
              <a:pathLst>
                <a:path w="1719707" h="1719707">
                  <a:moveTo>
                    <a:pt x="0" y="0"/>
                  </a:moveTo>
                  <a:lnTo>
                    <a:pt x="1719707" y="0"/>
                  </a:lnTo>
                  <a:lnTo>
                    <a:pt x="1719707" y="1719707"/>
                  </a:lnTo>
                  <a:lnTo>
                    <a:pt x="0" y="1719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8930" y="5053081"/>
            <a:ext cx="1759439" cy="949033"/>
            <a:chOff x="0" y="0"/>
            <a:chExt cx="2345919" cy="12653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5944" cy="1265428"/>
            </a:xfrm>
            <a:custGeom>
              <a:avLst/>
              <a:gdLst/>
              <a:ahLst/>
              <a:cxnLst/>
              <a:rect l="l" t="t" r="r" b="b"/>
              <a:pathLst>
                <a:path w="2345944" h="1265428">
                  <a:moveTo>
                    <a:pt x="0" y="0"/>
                  </a:moveTo>
                  <a:lnTo>
                    <a:pt x="2345944" y="0"/>
                  </a:lnTo>
                  <a:lnTo>
                    <a:pt x="2345944" y="1265428"/>
                  </a:lnTo>
                  <a:lnTo>
                    <a:pt x="0" y="1265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" b="4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89921" y="2309489"/>
            <a:ext cx="1597457" cy="1849441"/>
            <a:chOff x="0" y="0"/>
            <a:chExt cx="2129942" cy="24659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29917" cy="2465959"/>
            </a:xfrm>
            <a:custGeom>
              <a:avLst/>
              <a:gdLst/>
              <a:ahLst/>
              <a:cxnLst/>
              <a:rect l="l" t="t" r="r" b="b"/>
              <a:pathLst>
                <a:path w="2129917" h="2465959">
                  <a:moveTo>
                    <a:pt x="0" y="0"/>
                  </a:moveTo>
                  <a:lnTo>
                    <a:pt x="2129917" y="0"/>
                  </a:lnTo>
                  <a:lnTo>
                    <a:pt x="2129917" y="2465959"/>
                  </a:lnTo>
                  <a:lnTo>
                    <a:pt x="0" y="2465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369997" y="4812394"/>
            <a:ext cx="2591933" cy="669274"/>
            <a:chOff x="0" y="0"/>
            <a:chExt cx="3455911" cy="892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55924" cy="892429"/>
            </a:xfrm>
            <a:custGeom>
              <a:avLst/>
              <a:gdLst/>
              <a:ahLst/>
              <a:cxnLst/>
              <a:rect l="l" t="t" r="r" b="b"/>
              <a:pathLst>
                <a:path w="3455924" h="892429">
                  <a:moveTo>
                    <a:pt x="0" y="0"/>
                  </a:moveTo>
                  <a:lnTo>
                    <a:pt x="3455924" y="0"/>
                  </a:lnTo>
                  <a:lnTo>
                    <a:pt x="3455924" y="892429"/>
                  </a:lnTo>
                  <a:lnTo>
                    <a:pt x="0" y="892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95098" y="8890725"/>
            <a:ext cx="1471832" cy="1354922"/>
            <a:chOff x="0" y="0"/>
            <a:chExt cx="1962442" cy="180656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62404" cy="1806575"/>
            </a:xfrm>
            <a:custGeom>
              <a:avLst/>
              <a:gdLst/>
              <a:ahLst/>
              <a:cxnLst/>
              <a:rect l="l" t="t" r="r" b="b"/>
              <a:pathLst>
                <a:path w="1962404" h="1806575">
                  <a:moveTo>
                    <a:pt x="0" y="0"/>
                  </a:moveTo>
                  <a:lnTo>
                    <a:pt x="1962404" y="0"/>
                  </a:lnTo>
                  <a:lnTo>
                    <a:pt x="1962404" y="1806575"/>
                  </a:lnTo>
                  <a:lnTo>
                    <a:pt x="0" y="1806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673149" y="6978418"/>
            <a:ext cx="1985629" cy="448142"/>
            <a:chOff x="0" y="0"/>
            <a:chExt cx="2647506" cy="5975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47569" cy="597535"/>
            </a:xfrm>
            <a:custGeom>
              <a:avLst/>
              <a:gdLst/>
              <a:ahLst/>
              <a:cxnLst/>
              <a:rect l="l" t="t" r="r" b="b"/>
              <a:pathLst>
                <a:path w="2647569" h="597535">
                  <a:moveTo>
                    <a:pt x="0" y="0"/>
                  </a:moveTo>
                  <a:lnTo>
                    <a:pt x="2647569" y="0"/>
                  </a:lnTo>
                  <a:lnTo>
                    <a:pt x="2647569" y="597535"/>
                  </a:lnTo>
                  <a:lnTo>
                    <a:pt x="0" y="597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2" b="-69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22174" y="8621287"/>
            <a:ext cx="3030074" cy="1893799"/>
            <a:chOff x="0" y="0"/>
            <a:chExt cx="4040099" cy="25250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040124" cy="2525014"/>
            </a:xfrm>
            <a:custGeom>
              <a:avLst/>
              <a:gdLst/>
              <a:ahLst/>
              <a:cxnLst/>
              <a:rect l="l" t="t" r="r" b="b"/>
              <a:pathLst>
                <a:path w="4040124" h="2525014">
                  <a:moveTo>
                    <a:pt x="0" y="0"/>
                  </a:moveTo>
                  <a:lnTo>
                    <a:pt x="4040124" y="0"/>
                  </a:lnTo>
                  <a:lnTo>
                    <a:pt x="4040124" y="2525014"/>
                  </a:lnTo>
                  <a:lnTo>
                    <a:pt x="0" y="252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b="-2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09780" y="8970974"/>
            <a:ext cx="2068459" cy="1194425"/>
            <a:chOff x="0" y="0"/>
            <a:chExt cx="2757945" cy="159256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57932" cy="1592580"/>
            </a:xfrm>
            <a:custGeom>
              <a:avLst/>
              <a:gdLst/>
              <a:ahLst/>
              <a:cxnLst/>
              <a:rect l="l" t="t" r="r" b="b"/>
              <a:pathLst>
                <a:path w="2757932" h="1592580">
                  <a:moveTo>
                    <a:pt x="0" y="0"/>
                  </a:moveTo>
                  <a:lnTo>
                    <a:pt x="2757932" y="0"/>
                  </a:lnTo>
                  <a:lnTo>
                    <a:pt x="2757932" y="1592580"/>
                  </a:lnTo>
                  <a:lnTo>
                    <a:pt x="0" y="1592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Base de dados e Governança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91600" y="1967703"/>
            <a:ext cx="9072867" cy="7063473"/>
            <a:chOff x="0" y="0"/>
            <a:chExt cx="12097156" cy="94179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97154" cy="9417962"/>
            </a:xfrm>
            <a:custGeom>
              <a:avLst/>
              <a:gdLst/>
              <a:ahLst/>
              <a:cxnLst/>
              <a:rect l="l" t="t" r="r" b="b"/>
              <a:pathLst>
                <a:path w="12097154" h="9417962">
                  <a:moveTo>
                    <a:pt x="0" y="0"/>
                  </a:moveTo>
                  <a:lnTo>
                    <a:pt x="12097154" y="0"/>
                  </a:lnTo>
                  <a:lnTo>
                    <a:pt x="12097154" y="9417962"/>
                  </a:lnTo>
                  <a:lnTo>
                    <a:pt x="0" y="9417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87" r="-4988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097156" cy="9456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pt-BR" sz="1800" i="1" noProof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Dados Demográficos (IBGE):</a:t>
              </a:r>
            </a:p>
            <a:p>
              <a:pPr algn="l">
                <a:lnSpc>
                  <a:spcPts val="2160"/>
                </a:lnSpc>
              </a:pPr>
              <a:r>
                <a:rPr lang="pt-BR" sz="1800" b="1" noProof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Agregados_por_bairros_basico_BR.csv: Tamanho: 4.531KB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ftp.ibge.gov.br/Censos/Censo_Demografico_2022/Agregados_por_Setores_Censitarios/Agregados_por_Bairro_csv/"/>
                </a:rPr>
                <a:t>https://ftp.ibge.gov.br/Censos/Censo_Demografico_2022/Agregados_por_Setores_Censitarios/Agregados_por_Bairro_csv/Agregados_por_bairros_basico_BR_20250417.zip</a:t>
              </a:r>
            </a:p>
            <a:p>
              <a:pPr algn="l">
                <a:lnSpc>
                  <a:spcPts val="2160"/>
                </a:lnSpc>
              </a:pPr>
              <a:r>
                <a:rPr lang="pt-BR" sz="1800" i="1" noProof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Dicionário de dados: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ftp.ibge.gov.br/Censos/Censo_Demografico_2022/Agregados_por_Setores_Censitarios/Agregados_por_Bairro_csv/"/>
                </a:rPr>
                <a:t>https://ftp.ibge.gov.br/Censos/Censo_Demografico_2022/Agregados_por_Setores_Censitarios/Agregados_por_Bairro_csv/dicionario_de_dados_agregados_por_setores_censitarios_20250417.xlsx</a:t>
              </a:r>
            </a:p>
            <a:p>
              <a:pPr algn="l">
                <a:lnSpc>
                  <a:spcPts val="2160"/>
                </a:lnSpc>
              </a:pPr>
              <a:endParaRPr lang="pt-BR" sz="1800" u="sng" noProof="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ftp.ibge.gov.br/Censos/Censo_Demografico_2022/Agregados_por_Setores_Censitarios/Agregados_por_Bairro_csv/"/>
              </a:endParaRPr>
            </a:p>
            <a:p>
              <a:pPr algn="l">
                <a:lnSpc>
                  <a:spcPts val="2160"/>
                </a:lnSpc>
              </a:pPr>
              <a:r>
                <a:rPr lang="pt-BR" sz="1800" i="1" noProof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Capacidade Hospitalar (DATASUS/CNES): </a:t>
              </a:r>
            </a:p>
            <a:p>
              <a:pPr algn="l">
                <a:lnSpc>
                  <a:spcPts val="2160"/>
                </a:lnSpc>
              </a:pPr>
              <a:r>
                <a:rPr lang="pt-BR" sz="1800" b="1" noProof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CNES_Leitos_Niteroi.csv :Tamanho: 22K</a:t>
              </a:r>
            </a:p>
            <a:p>
              <a:pPr algn="l">
                <a:lnSpc>
                  <a:spcPts val="2160"/>
                </a:lnSpc>
              </a:pPr>
              <a:r>
                <a:rPr lang="pt-BR" sz="1800" noProof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6" tooltip="https://cnes.datasus.gov.br/pages/downloads/arquivosBaseDados.jsp"/>
                </a:rPr>
                <a:t>https://cnes.datasus.gov.br/pages/downloads/arquivosBaseDados.jsp</a:t>
              </a:r>
            </a:p>
            <a:p>
              <a:pPr algn="l">
                <a:lnSpc>
                  <a:spcPts val="2160"/>
                </a:lnSpc>
              </a:pPr>
              <a:r>
                <a:rPr lang="pt-BR" sz="1800" i="1" noProof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Dicionário de dados:</a:t>
              </a:r>
              <a:r>
                <a:rPr lang="pt-BR" sz="1800" noProof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7" tooltip="https://cnes.datasus.gov.br/EstatisticasServlet?path=SCNES_DICIONARIO_DE_DADOS.ZIP"/>
                </a:rPr>
                <a:t>https://cnes.datasus.gov.br/EstatisticasServlet?path=SCNES_DICIONARIO_DE_DADOS.ZIP</a:t>
              </a:r>
            </a:p>
            <a:p>
              <a:pPr algn="l">
                <a:lnSpc>
                  <a:spcPts val="2160"/>
                </a:lnSpc>
              </a:pPr>
              <a:endParaRPr lang="pt-BR" sz="1800" u="sng" noProof="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cnes.datasus.gov.br/EstatisticasServlet?path=SCNES_DICIONARIO_DE_DADOS.ZIP"/>
              </a:endParaRPr>
            </a:p>
            <a:p>
              <a:pPr algn="l">
                <a:lnSpc>
                  <a:spcPts val="2160"/>
                </a:lnSpc>
              </a:pPr>
              <a:r>
                <a:rPr lang="pt-BR" sz="1800" i="1" noProof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Infraestrutura de Saúde (SIGeo Niterói):</a:t>
              </a:r>
            </a:p>
            <a:p>
              <a:pPr algn="l">
                <a:lnSpc>
                  <a:spcPts val="2160"/>
                </a:lnSpc>
              </a:pPr>
              <a:r>
                <a:rPr lang="pt-BR" sz="1800" b="1" noProof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Hospitais.csv: Tamanho: 3K</a:t>
              </a:r>
            </a:p>
            <a:p>
              <a:pPr algn="l">
                <a:lnSpc>
                  <a:spcPts val="2160"/>
                </a:lnSpc>
              </a:pPr>
              <a:r>
                <a:rPr lang="pt-BR" sz="1800" noProof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www.sigeo.niteroi.rj.gov.br/maps/7636a753146a426ba56aa15ef086e178"/>
                </a:rPr>
                <a:t>https://www.sigeo.niteroi.rj.gov.br/maps/7636a753146a426ba56aa15ef086e178</a:t>
              </a:r>
            </a:p>
            <a:p>
              <a:pPr algn="l">
                <a:lnSpc>
                  <a:spcPts val="2160"/>
                </a:lnSpc>
              </a:pPr>
              <a:endParaRPr lang="pt-BR" sz="1800" u="sng" noProof="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www.sigeo.niteroi.rj.gov.br/maps/7636a753146a426ba56aa15ef086e178"/>
              </a:endParaRPr>
            </a:p>
            <a:p>
              <a:pPr algn="l">
                <a:lnSpc>
                  <a:spcPts val="2160"/>
                </a:lnSpc>
              </a:pPr>
              <a:r>
                <a:rPr lang="pt-BR" sz="1800" b="1" noProof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Policlinicas.csv: Tamanho: 2K</a:t>
              </a:r>
            </a:p>
            <a:p>
              <a:pPr algn="l">
                <a:lnSpc>
                  <a:spcPts val="2160"/>
                </a:lnSpc>
              </a:pPr>
              <a:r>
                <a:rPr lang="pt-BR" sz="1800" noProof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9" tooltip="https://www.sigeo.niteroi.rj.gov.br/maps/c7f2ebff746a4b1fb3a69999b8c04598"/>
                </a:rPr>
                <a:t>https://www.sigeo.niteroi.rj.gov.br/maps/c7f2ebff746a4b1fb3a69999b8c04598</a:t>
              </a:r>
            </a:p>
            <a:p>
              <a:pPr algn="l">
                <a:lnSpc>
                  <a:spcPts val="2160"/>
                </a:lnSpc>
              </a:pPr>
              <a:endParaRPr lang="pt-BR" sz="1800" u="sng" noProof="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www.sigeo.niteroi.rj.gov.br/maps/c7f2ebff746a4b1fb3a69999b8c04598"/>
              </a:endParaRPr>
            </a:p>
            <a:p>
              <a:pPr algn="l">
                <a:lnSpc>
                  <a:spcPts val="2160"/>
                </a:lnSpc>
              </a:pPr>
              <a:r>
                <a:rPr lang="pt-BR" sz="1800" b="1" noProof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Unidades_Basicas_de_Saude_UBS.csv: Tamanho: 4K</a:t>
              </a:r>
            </a:p>
            <a:p>
              <a:pPr algn="l">
                <a:lnSpc>
                  <a:spcPts val="2160"/>
                </a:lnSpc>
              </a:pPr>
              <a:r>
                <a:rPr lang="pt-BR" sz="1800" u="sng" noProof="1">
                  <a:solidFill>
                    <a:srgbClr val="0563C1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0" tooltip="https://www.sigeo.niteroi.rj.gov.br/maps/c6c3183b85a24e1bb46a17d89aa55d5f"/>
                </a:rPr>
                <a:t>https://www.sigeo.niteroi.rj.gov.br/maps/c6c3183b85a24e1bb46a17d89aa55d5f</a:t>
              </a:r>
            </a:p>
            <a:p>
              <a:pPr algn="l">
                <a:lnSpc>
                  <a:spcPts val="2160"/>
                </a:lnSpc>
              </a:pPr>
              <a:endParaRPr lang="pt-BR" sz="1800" u="sng" noProof="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www.sigeo.niteroi.rj.gov.br/maps/c6c3183b85a24e1bb46a17d89aa55d5f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08971" y="9422549"/>
            <a:ext cx="2977544" cy="642185"/>
            <a:chOff x="0" y="0"/>
            <a:chExt cx="3970058" cy="8562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70020" cy="856234"/>
            </a:xfrm>
            <a:custGeom>
              <a:avLst/>
              <a:gdLst/>
              <a:ahLst/>
              <a:cxnLst/>
              <a:rect l="l" t="t" r="r" b="b"/>
              <a:pathLst>
                <a:path w="3970020" h="856234">
                  <a:moveTo>
                    <a:pt x="0" y="0"/>
                  </a:moveTo>
                  <a:lnTo>
                    <a:pt x="3970020" y="0"/>
                  </a:lnTo>
                  <a:lnTo>
                    <a:pt x="3970020" y="856234"/>
                  </a:lnTo>
                  <a:lnTo>
                    <a:pt x="0" y="856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4494" b="-14495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77442" y="9236926"/>
            <a:ext cx="2870063" cy="827808"/>
            <a:chOff x="0" y="0"/>
            <a:chExt cx="3826751" cy="11037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26764" cy="1103757"/>
            </a:xfrm>
            <a:custGeom>
              <a:avLst/>
              <a:gdLst/>
              <a:ahLst/>
              <a:cxnLst/>
              <a:rect l="l" t="t" r="r" b="b"/>
              <a:pathLst>
                <a:path w="3826764" h="1103757">
                  <a:moveTo>
                    <a:pt x="0" y="0"/>
                  </a:moveTo>
                  <a:lnTo>
                    <a:pt x="3826764" y="0"/>
                  </a:lnTo>
                  <a:lnTo>
                    <a:pt x="3826764" y="1103757"/>
                  </a:lnTo>
                  <a:lnTo>
                    <a:pt x="0" y="1103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4494" b="-144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9206" y="9193616"/>
            <a:ext cx="2477995" cy="614753"/>
            <a:chOff x="0" y="0"/>
            <a:chExt cx="3303994" cy="8196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04032" cy="819658"/>
            </a:xfrm>
            <a:custGeom>
              <a:avLst/>
              <a:gdLst/>
              <a:ahLst/>
              <a:cxnLst/>
              <a:rect l="l" t="t" r="r" b="b"/>
              <a:pathLst>
                <a:path w="3304032" h="819658">
                  <a:moveTo>
                    <a:pt x="0" y="0"/>
                  </a:moveTo>
                  <a:lnTo>
                    <a:pt x="3304032" y="0"/>
                  </a:lnTo>
                  <a:lnTo>
                    <a:pt x="3304032" y="819658"/>
                  </a:lnTo>
                  <a:lnTo>
                    <a:pt x="0" y="819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4494" r="1" b="-14494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097064" y="1388716"/>
            <a:ext cx="3223812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pt-BR" sz="2700" b="1" noProof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Fontes Oficiais: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0" y="2476500"/>
            <a:ext cx="8361645" cy="545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52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Origem (Governamental):</a:t>
            </a:r>
            <a:r>
              <a:rPr lang="pt-BR" sz="2100" b="1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noProof="1">
                <a:solidFill>
                  <a:srgbClr val="000000"/>
                </a:solidFill>
                <a:ea typeface="Arial"/>
                <a:cs typeface="Arial"/>
                <a:sym typeface="Arial"/>
              </a:rPr>
              <a:t>IBGE (Censo 2022), CNES (Datasus) e SIGeo Niterói.</a:t>
            </a:r>
          </a:p>
          <a:p>
            <a:pPr marL="226695" lvl="1" algn="just">
              <a:lnSpc>
                <a:spcPts val="2520"/>
              </a:lnSpc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6695" lvl="1" algn="just">
              <a:lnSpc>
                <a:spcPts val="2520"/>
              </a:lnSpc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6695" lvl="1" algn="just">
              <a:lnSpc>
                <a:spcPts val="2520"/>
              </a:lnSpc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53390" lvl="1" indent="-226695" algn="just">
              <a:lnSpc>
                <a:spcPts val="2520"/>
              </a:lnSpc>
              <a:buFont typeface="Arial"/>
              <a:buChar char="•"/>
            </a:pPr>
            <a:r>
              <a:rPr lang="pt-BR" sz="2800" b="1" noProof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Tamanho e Repositório</a:t>
            </a:r>
            <a:r>
              <a:rPr lang="pt-BR" sz="2100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800" noProof="1">
                <a:solidFill>
                  <a:srgbClr val="000000"/>
                </a:solidFill>
                <a:ea typeface="Arial"/>
                <a:cs typeface="Arial"/>
                <a:sym typeface="Arial"/>
              </a:rPr>
              <a:t>A ingestão foi feita direto do nosso repositório no GitHub para garantir reprodutibilidade.</a:t>
            </a:r>
          </a:p>
          <a:p>
            <a:pPr marL="226695" lvl="1" algn="just">
              <a:lnSpc>
                <a:spcPts val="2520"/>
              </a:lnSpc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26695" lvl="1" algn="just">
              <a:lnSpc>
                <a:spcPts val="2520"/>
              </a:lnSpc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53390" lvl="1" indent="-226695" algn="just">
              <a:lnSpc>
                <a:spcPts val="2520"/>
              </a:lnSpc>
              <a:buFont typeface="Arial"/>
              <a:buChar char="•"/>
            </a:pPr>
            <a:endParaRPr lang="pt-BR" sz="2800" noProof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53390" lvl="1" indent="-226695" algn="just">
              <a:lnSpc>
                <a:spcPts val="252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Tratamento Forte</a:t>
            </a:r>
            <a:r>
              <a:rPr lang="pt-BR" sz="2100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800" noProof="1">
                <a:solidFill>
                  <a:srgbClr val="000000"/>
                </a:solidFill>
                <a:ea typeface="Arial"/>
                <a:cs typeface="Arial"/>
                <a:sym typeface="Arial"/>
              </a:rPr>
              <a:t>Foi exigida a limpeza de valores nulos (fillna) e a normalização fonética (remoção de acentos) para garantir que o cruzamento das bases (Left Join) não perdesse bairros críticos.</a:t>
            </a:r>
          </a:p>
          <a:p>
            <a:pPr algn="just">
              <a:lnSpc>
                <a:spcPts val="2520"/>
              </a:lnSpc>
            </a:pPr>
            <a:endParaRPr lang="pt-BR" sz="2100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2520"/>
              </a:lnSpc>
            </a:pPr>
            <a:endParaRPr lang="pt-BR" sz="2100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Resultados Alcançados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0" y="1748076"/>
            <a:ext cx="8659315" cy="8033925"/>
            <a:chOff x="0" y="0"/>
            <a:chExt cx="4521911" cy="41953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21962" cy="4195318"/>
            </a:xfrm>
            <a:custGeom>
              <a:avLst/>
              <a:gdLst/>
              <a:ahLst/>
              <a:cxnLst/>
              <a:rect l="l" t="t" r="r" b="b"/>
              <a:pathLst>
                <a:path w="4521962" h="4195318">
                  <a:moveTo>
                    <a:pt x="0" y="0"/>
                  </a:moveTo>
                  <a:lnTo>
                    <a:pt x="4521962" y="0"/>
                  </a:lnTo>
                  <a:lnTo>
                    <a:pt x="4521962" y="4195318"/>
                  </a:lnTo>
                  <a:lnTo>
                    <a:pt x="0" y="4195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95400" y="4223644"/>
            <a:ext cx="5764810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Análise Descritiva:</a:t>
            </a:r>
          </a:p>
          <a:p>
            <a:pPr marL="582930" lvl="1" indent="-291465">
              <a:lnSpc>
                <a:spcPts val="3240"/>
              </a:lnSpc>
              <a:buFont typeface="Arial"/>
              <a:buChar char="•"/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Média populacional: 9.264 habitantes por bairro (Alto desvio padrão de 12.517).</a:t>
            </a:r>
          </a:p>
          <a:p>
            <a:pPr algn="l">
              <a:lnSpc>
                <a:spcPts val="3240"/>
              </a:lnSpc>
            </a:pPr>
            <a:endParaRPr lang="pt-BR" sz="27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240"/>
              </a:lnSpc>
            </a:pPr>
            <a:endParaRPr lang="pt-BR" sz="27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240"/>
              </a:lnSpc>
            </a:pPr>
            <a:endParaRPr lang="pt-BR" sz="27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55A74A9-C104-528E-9533-A636D3E26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803558"/>
            <a:ext cx="4648200" cy="5762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974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90605" y="342013"/>
            <a:ext cx="15380785" cy="1926077"/>
            <a:chOff x="0" y="-907629"/>
            <a:chExt cx="20507714" cy="2568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7253" y="-907629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Resultados Alcançados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22237" y="1665831"/>
            <a:ext cx="11843525" cy="429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pt-BR" sz="36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ANÁLISE PREDITIVA E MODELAGEM DE REGRESSÃO LINEAR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76447" y="2411495"/>
            <a:ext cx="8073071" cy="5322805"/>
            <a:chOff x="0" y="0"/>
            <a:chExt cx="10255364" cy="65509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55377" cy="6550914"/>
            </a:xfrm>
            <a:custGeom>
              <a:avLst/>
              <a:gdLst/>
              <a:ahLst/>
              <a:cxnLst/>
              <a:rect l="l" t="t" r="r" b="b"/>
              <a:pathLst>
                <a:path w="10255377" h="6550914">
                  <a:moveTo>
                    <a:pt x="0" y="0"/>
                  </a:moveTo>
                  <a:lnTo>
                    <a:pt x="10255377" y="0"/>
                  </a:lnTo>
                  <a:lnTo>
                    <a:pt x="10255377" y="6550914"/>
                  </a:lnTo>
                  <a:lnTo>
                    <a:pt x="0" y="6550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774" b="-8774"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12468" y="2400300"/>
            <a:ext cx="8761231" cy="5322794"/>
            <a:chOff x="0" y="0"/>
            <a:chExt cx="10515600" cy="65509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15600" cy="6550914"/>
            </a:xfrm>
            <a:custGeom>
              <a:avLst/>
              <a:gdLst/>
              <a:ahLst/>
              <a:cxnLst/>
              <a:rect l="l" t="t" r="r" b="b"/>
              <a:pathLst>
                <a:path w="10515600" h="6550914">
                  <a:moveTo>
                    <a:pt x="0" y="0"/>
                  </a:moveTo>
                  <a:lnTo>
                    <a:pt x="10515600" y="0"/>
                  </a:lnTo>
                  <a:lnTo>
                    <a:pt x="10515600" y="6550914"/>
                  </a:lnTo>
                  <a:lnTo>
                    <a:pt x="0" y="6550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090" b="-3090"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11864" y="8060532"/>
            <a:ext cx="80730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 Modelagem: 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A Regressão Linear confirmou a tendência de que o crescimento populacional exige mais infraestrutura.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798" y="8060532"/>
            <a:ext cx="80730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Precisão do Modelo</a:t>
            </a:r>
            <a:r>
              <a:rPr lang="pt-BR" sz="3200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: 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O coeficiente de determinação (R²) atingido foi de 0,2537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08B5-56BC-4531-4B07-9F4181DC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9F7183-1D5B-00D2-4413-2B32CE0666D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29DD3B-33E1-AE5D-6A97-985C1DA2BE9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610F499-9827-E1D6-A338-EEA0456D8774}"/>
              </a:ext>
            </a:extLst>
          </p:cNvPr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B8E0F49-EC39-F99E-CC9E-F4A856385384}"/>
                </a:ext>
              </a:extLst>
            </p:cNvPr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EB11CB0-0C14-4F1C-D987-F1D828F2DE38}"/>
                </a:ext>
              </a:extLst>
            </p:cNvPr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Resultados Alcançados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BA6436C-31C3-EC9D-7ECF-979966D5FA2D}"/>
              </a:ext>
            </a:extLst>
          </p:cNvPr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A5EA330-2CF6-4D17-4296-52C4289A5145}"/>
                </a:ext>
              </a:extLst>
            </p:cNvPr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5169125-E5A7-30F9-1949-4AA948F31A82}"/>
                </a:ext>
              </a:extLst>
            </p:cNvPr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F3C2098-2855-126F-CE9B-FE3D9D7B868A}"/>
              </a:ext>
            </a:extLst>
          </p:cNvPr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>
              <a:extLst>
                <a:ext uri="{FF2B5EF4-FFF2-40B4-BE49-F238E27FC236}">
                  <a16:creationId xmlns:a16="http://schemas.microsoft.com/office/drawing/2014/main" id="{9B7AB424-983A-CCE2-966A-586025D9F9F4}"/>
                </a:ext>
              </a:extLst>
            </p:cNvPr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469B3D4-F1C4-F30C-1E71-EE09E1E77971}"/>
              </a:ext>
            </a:extLst>
          </p:cNvPr>
          <p:cNvGrpSpPr/>
          <p:nvPr/>
        </p:nvGrpSpPr>
        <p:grpSpPr>
          <a:xfrm>
            <a:off x="3163414" y="6637971"/>
            <a:ext cx="5779432" cy="3396766"/>
            <a:chOff x="0" y="0"/>
            <a:chExt cx="6923265" cy="379519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B8A852E-D4B4-1B6F-6C3F-1FE93640C882}"/>
                </a:ext>
              </a:extLst>
            </p:cNvPr>
            <p:cNvSpPr/>
            <p:nvPr/>
          </p:nvSpPr>
          <p:spPr>
            <a:xfrm>
              <a:off x="0" y="0"/>
              <a:ext cx="6923278" cy="3795141"/>
            </a:xfrm>
            <a:custGeom>
              <a:avLst/>
              <a:gdLst/>
              <a:ahLst/>
              <a:cxnLst/>
              <a:rect l="l" t="t" r="r" b="b"/>
              <a:pathLst>
                <a:path w="6923278" h="3795141">
                  <a:moveTo>
                    <a:pt x="0" y="0"/>
                  </a:moveTo>
                  <a:lnTo>
                    <a:pt x="6923278" y="0"/>
                  </a:lnTo>
                  <a:lnTo>
                    <a:pt x="6923278" y="3795141"/>
                  </a:lnTo>
                  <a:lnTo>
                    <a:pt x="0" y="3795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41EF390E-B927-430F-25EA-02E44A9C596B}"/>
              </a:ext>
            </a:extLst>
          </p:cNvPr>
          <p:cNvSpPr txBox="1"/>
          <p:nvPr/>
        </p:nvSpPr>
        <p:spPr>
          <a:xfrm>
            <a:off x="965432" y="2265148"/>
            <a:ext cx="6451988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Distribuição de Frequências: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Predomínio da Rede Pública (SUS), representando 76,92% (30 unidades). A rede privada representa 23,08% (9 unidades).</a:t>
            </a:r>
          </a:p>
          <a:p>
            <a:pPr algn="l">
              <a:lnSpc>
                <a:spcPts val="3240"/>
              </a:lnSpc>
            </a:pPr>
            <a:endParaRPr lang="pt-BR" sz="32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240"/>
              </a:lnSpc>
            </a:pPr>
            <a:endParaRPr lang="pt-BR" sz="32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1828BA9-CD8F-4D0F-7A26-3C0B2FDBE670}"/>
              </a:ext>
            </a:extLst>
          </p:cNvPr>
          <p:cNvGrpSpPr/>
          <p:nvPr/>
        </p:nvGrpSpPr>
        <p:grpSpPr>
          <a:xfrm>
            <a:off x="9359729" y="6637994"/>
            <a:ext cx="5764810" cy="3396720"/>
            <a:chOff x="0" y="0"/>
            <a:chExt cx="7877746" cy="419533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5096A7B-E769-C910-1F90-DA10926EE18F}"/>
                </a:ext>
              </a:extLst>
            </p:cNvPr>
            <p:cNvSpPr/>
            <p:nvPr/>
          </p:nvSpPr>
          <p:spPr>
            <a:xfrm>
              <a:off x="0" y="0"/>
              <a:ext cx="7877810" cy="4195318"/>
            </a:xfrm>
            <a:custGeom>
              <a:avLst/>
              <a:gdLst/>
              <a:ahLst/>
              <a:cxnLst/>
              <a:rect l="l" t="t" r="r" b="b"/>
              <a:pathLst>
                <a:path w="7877810" h="4195318">
                  <a:moveTo>
                    <a:pt x="0" y="0"/>
                  </a:moveTo>
                  <a:lnTo>
                    <a:pt x="7877810" y="0"/>
                  </a:lnTo>
                  <a:lnTo>
                    <a:pt x="7877810" y="4195318"/>
                  </a:lnTo>
                  <a:lnTo>
                    <a:pt x="0" y="4195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15A6A5C3-A9EE-5E94-A607-5D4681B53F1C}"/>
              </a:ext>
            </a:extLst>
          </p:cNvPr>
          <p:cNvSpPr/>
          <p:nvPr/>
        </p:nvSpPr>
        <p:spPr>
          <a:xfrm>
            <a:off x="8178995" y="1393620"/>
            <a:ext cx="6941874" cy="4830246"/>
          </a:xfrm>
          <a:custGeom>
            <a:avLst/>
            <a:gdLst/>
            <a:ahLst/>
            <a:cxnLst/>
            <a:rect l="l" t="t" r="r" b="b"/>
            <a:pathLst>
              <a:path w="12403987" h="4341396">
                <a:moveTo>
                  <a:pt x="0" y="0"/>
                </a:moveTo>
                <a:lnTo>
                  <a:pt x="12403988" y="0"/>
                </a:lnTo>
                <a:lnTo>
                  <a:pt x="12403988" y="4341396"/>
                </a:lnTo>
                <a:lnTo>
                  <a:pt x="0" y="434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r="-104206"/>
            </a:stretch>
          </a:blipFill>
          <a:ln w="101600">
            <a:solidFill>
              <a:schemeClr val="accent1"/>
            </a:solidFill>
          </a:ln>
        </p:spPr>
        <p:txBody>
          <a:bodyPr/>
          <a:lstStyle/>
          <a:p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59343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784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Resultados Alcançados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7BE34F0-7FC5-DDF6-31C4-699558896819}"/>
              </a:ext>
            </a:extLst>
          </p:cNvPr>
          <p:cNvSpPr txBox="1"/>
          <p:nvPr/>
        </p:nvSpPr>
        <p:spPr>
          <a:xfrm>
            <a:off x="381000" y="2120461"/>
            <a:ext cx="7721506" cy="529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pt-BR" sz="3600" b="1" noProof="1">
                <a:latin typeface="+mj-lt"/>
              </a:rPr>
              <a:t>Identificação de Outliers</a:t>
            </a:r>
          </a:p>
          <a:p>
            <a:pPr>
              <a:lnSpc>
                <a:spcPts val="3240"/>
              </a:lnSpc>
            </a:pPr>
            <a:endParaRPr lang="pt-BR" sz="3600" b="1" noProof="1">
              <a:solidFill>
                <a:srgbClr val="000000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3200" b="1" noProof="1">
                <a:latin typeface="+mj-lt"/>
              </a:rPr>
              <a:t>Métrica de Superlotação:</a:t>
            </a:r>
            <a:r>
              <a:rPr lang="pt-BR" sz="3200" noProof="1">
                <a:latin typeface="+mj-lt"/>
              </a:rPr>
              <a:t> </a:t>
            </a:r>
            <a:r>
              <a:rPr lang="pt-BR" sz="2800" noProof="1"/>
              <a:t>O cálculo do limite superior (IQR) indicou que bairros com mais de 17.132 habitantes por unidade estão em estado crítico.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3200" b="1" noProof="1">
                <a:latin typeface="+mj-lt"/>
              </a:rPr>
              <a:t>O Maior Outlier:</a:t>
            </a:r>
            <a:r>
              <a:rPr lang="pt-BR" sz="3200" noProof="1">
                <a:latin typeface="+mj-lt"/>
              </a:rPr>
              <a:t> </a:t>
            </a:r>
            <a:r>
              <a:rPr lang="pt-BR" sz="2800" noProof="1"/>
              <a:t>O bairro de </a:t>
            </a:r>
            <a:r>
              <a:rPr lang="pt-BR" sz="2800" b="1" noProof="1"/>
              <a:t>Icaraí</a:t>
            </a:r>
            <a:r>
              <a:rPr lang="pt-BR" sz="2800" noProof="1"/>
              <a:t> é o caso mais extremo, possuindo 77.247 habitantes servidos por apenas 1 unidade mapeada.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3200" b="1" noProof="1">
                <a:latin typeface="+mj-lt"/>
              </a:rPr>
              <a:t>Z-Score:</a:t>
            </a:r>
            <a:r>
              <a:rPr lang="pt-BR" sz="3200" noProof="1">
                <a:latin typeface="+mj-lt"/>
              </a:rPr>
              <a:t> </a:t>
            </a:r>
            <a:r>
              <a:rPr lang="pt-BR" sz="2800" noProof="1"/>
              <a:t>Icaraí apresentou um </a:t>
            </a:r>
            <a:r>
              <a:rPr lang="pt-BR" sz="2800" i="1" noProof="1"/>
              <a:t>Z-Score</a:t>
            </a:r>
            <a:r>
              <a:rPr lang="pt-BR" sz="2800" noProof="1"/>
              <a:t> de </a:t>
            </a:r>
            <a:r>
              <a:rPr lang="pt-BR" sz="2800" b="1" noProof="1"/>
              <a:t>3.64</a:t>
            </a:r>
            <a:r>
              <a:rPr lang="pt-BR" sz="2800" noProof="1"/>
              <a:t> (muito acima da média).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 </a:t>
            </a:r>
            <a:endParaRPr lang="pt-BR" sz="27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1620ADDC-F0AE-282B-DF0C-93E154CF3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90" y="7419661"/>
            <a:ext cx="7593816" cy="2450080"/>
          </a:xfrm>
          <a:prstGeom prst="rect">
            <a:avLst/>
          </a:prstGeom>
          <a:ln w="101600">
            <a:solidFill>
              <a:schemeClr val="accent1"/>
            </a:solidFill>
          </a:ln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6314CC2B-343E-9FAC-EC59-E861AE0D5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452" y="1995421"/>
            <a:ext cx="9084662" cy="5819410"/>
          </a:xfrm>
          <a:prstGeom prst="rect">
            <a:avLst/>
          </a:prstGeom>
          <a:ln w="1016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Análise Final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8381" y="2035969"/>
            <a:ext cx="7721506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pt-BR" sz="36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Análise Final e Conclusão (Padrão OMS)</a:t>
            </a:r>
          </a:p>
          <a:p>
            <a:pPr algn="l">
              <a:lnSpc>
                <a:spcPts val="3240"/>
              </a:lnSpc>
            </a:pPr>
            <a:endParaRPr lang="pt-BR" sz="3600" b="1" noProof="1">
              <a:solidFill>
                <a:srgbClr val="000000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 Regra da OMS (Análise Prescritiva</a:t>
            </a: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):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 A OMS exige uma margem de segurança de 3 a 5 leitos por 1.000 habitantes.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O Paradoxo de Niterói: 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A cidade atinge 6,51 leitos/1.000 hab. (Aprovada na média).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pt-BR" sz="3200" b="1" noProof="1">
                <a:solidFill>
                  <a:srgbClr val="000000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Conclusão: </a:t>
            </a:r>
          </a:p>
          <a:p>
            <a:pPr marL="291465" lvl="1" algn="l">
              <a:lnSpc>
                <a:spcPts val="3240"/>
              </a:lnSpc>
            </a:pPr>
            <a:r>
              <a:rPr lang="pt-BR" sz="2800" noProof="1">
                <a:solidFill>
                  <a:srgbClr val="000000"/>
                </a:solidFill>
                <a:ea typeface="Calibri (MS) Bold"/>
                <a:cs typeface="Calibri (MS) Bold"/>
                <a:sym typeface="Calibri (MS) Bold"/>
              </a:rPr>
              <a:t>Apesar de ter recursos suficientes na média global, Niterói sofre de grave desigualdade territorial, com fortes "desertos assistenciais" nas periferias. O problema não é a falta de leitos, mas a sua má distribuição.</a:t>
            </a:r>
          </a:p>
          <a:p>
            <a:pPr algn="l">
              <a:lnSpc>
                <a:spcPts val="3240"/>
              </a:lnSpc>
            </a:pPr>
            <a:endParaRPr lang="pt-BR" sz="2700" b="1" noProof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8970736" y="571501"/>
            <a:ext cx="7721506" cy="5035658"/>
          </a:xfrm>
          <a:custGeom>
            <a:avLst/>
            <a:gdLst/>
            <a:ahLst/>
            <a:cxnLst/>
            <a:rect l="l" t="t" r="r" b="b"/>
            <a:pathLst>
              <a:path w="9757918" h="6154801">
                <a:moveTo>
                  <a:pt x="0" y="0"/>
                </a:moveTo>
                <a:lnTo>
                  <a:pt x="9757918" y="0"/>
                </a:lnTo>
                <a:lnTo>
                  <a:pt x="9757918" y="6154801"/>
                </a:lnTo>
                <a:lnTo>
                  <a:pt x="0" y="61548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01600">
            <a:solidFill>
              <a:schemeClr val="accent1"/>
            </a:solidFill>
          </a:ln>
        </p:spPr>
        <p:txBody>
          <a:bodyPr/>
          <a:lstStyle/>
          <a:p>
            <a:endParaRPr lang="pt-BR" noProof="1"/>
          </a:p>
        </p:txBody>
      </p:sp>
      <p:grpSp>
        <p:nvGrpSpPr>
          <p:cNvPr id="15" name="Group 14"/>
          <p:cNvGrpSpPr/>
          <p:nvPr/>
        </p:nvGrpSpPr>
        <p:grpSpPr>
          <a:xfrm>
            <a:off x="609600" y="7810500"/>
            <a:ext cx="7400287" cy="2170508"/>
            <a:chOff x="0" y="0"/>
            <a:chExt cx="8173593" cy="2172005"/>
          </a:xfrm>
        </p:grpSpPr>
        <p:sp>
          <p:nvSpPr>
            <p:cNvPr id="17" name="Freeform 15"/>
            <p:cNvSpPr/>
            <p:nvPr/>
          </p:nvSpPr>
          <p:spPr>
            <a:xfrm>
              <a:off x="0" y="0"/>
              <a:ext cx="8173593" cy="2171954"/>
            </a:xfrm>
            <a:custGeom>
              <a:avLst/>
              <a:gdLst/>
              <a:ahLst/>
              <a:cxnLst/>
              <a:rect l="l" t="t" r="r" b="b"/>
              <a:pathLst>
                <a:path w="8173593" h="2171954">
                  <a:moveTo>
                    <a:pt x="0" y="0"/>
                  </a:moveTo>
                  <a:lnTo>
                    <a:pt x="8173593" y="0"/>
                  </a:lnTo>
                  <a:lnTo>
                    <a:pt x="8173593" y="2171954"/>
                  </a:lnTo>
                  <a:lnTo>
                    <a:pt x="0" y="2171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"/>
              </a:stretch>
            </a:blipFill>
            <a:ln w="101600">
              <a:solidFill>
                <a:schemeClr val="accent1"/>
              </a:solidFill>
            </a:ln>
          </p:spPr>
          <p:txBody>
            <a:bodyPr/>
            <a:lstStyle/>
            <a:p>
              <a:endParaRPr lang="pt-BR" noProof="1"/>
            </a:p>
          </p:txBody>
        </p:sp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1668DFE0-B31F-8D3A-32FF-5A76F0E7B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9557" y="5870193"/>
            <a:ext cx="7552685" cy="4212020"/>
          </a:xfrm>
          <a:prstGeom prst="rect">
            <a:avLst/>
          </a:prstGeom>
          <a:ln w="1016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3547" y="98260"/>
            <a:ext cx="14917845" cy="1245356"/>
            <a:chOff x="0" y="0"/>
            <a:chExt cx="19890461" cy="16604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90463" cy="1660472"/>
            </a:xfrm>
            <a:custGeom>
              <a:avLst/>
              <a:gdLst/>
              <a:ahLst/>
              <a:cxnLst/>
              <a:rect l="l" t="t" r="r" b="b"/>
              <a:pathLst>
                <a:path w="19890463" h="1660472">
                  <a:moveTo>
                    <a:pt x="0" y="0"/>
                  </a:moveTo>
                  <a:lnTo>
                    <a:pt x="19890463" y="0"/>
                  </a:lnTo>
                  <a:lnTo>
                    <a:pt x="19890463" y="1660472"/>
                  </a:lnTo>
                  <a:lnTo>
                    <a:pt x="0" y="1660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407" b="-183407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9890461" cy="15937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pt-BR" sz="6600" b="1" spc="-40" noProof="1">
                  <a:solidFill>
                    <a:srgbClr val="FF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Agradecimento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pt-BR" sz="1800" noProof="1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974" y="98250"/>
            <a:ext cx="1682848" cy="1682848"/>
            <a:chOff x="0" y="0"/>
            <a:chExt cx="2243798" cy="2243798"/>
          </a:xfrm>
        </p:grpSpPr>
        <p:sp>
          <p:nvSpPr>
            <p:cNvPr id="11" name="Freeform 11" descr="Análise de dados - ícones de computador grátis"/>
            <p:cNvSpPr/>
            <p:nvPr/>
          </p:nvSpPr>
          <p:spPr>
            <a:xfrm>
              <a:off x="0" y="0"/>
              <a:ext cx="2243836" cy="2243836"/>
            </a:xfrm>
            <a:custGeom>
              <a:avLst/>
              <a:gdLst/>
              <a:ahLst/>
              <a:cxnLst/>
              <a:rect l="l" t="t" r="r" b="b"/>
              <a:pathLst>
                <a:path w="2243836" h="2243836">
                  <a:moveTo>
                    <a:pt x="0" y="0"/>
                  </a:moveTo>
                  <a:lnTo>
                    <a:pt x="2243836" y="0"/>
                  </a:lnTo>
                  <a:lnTo>
                    <a:pt x="2243836" y="2243836"/>
                  </a:lnTo>
                  <a:lnTo>
                    <a:pt x="0" y="2243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970651" y="1714500"/>
            <a:ext cx="7618095" cy="162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pt-BR" sz="9000" b="1" noProof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OBRIGADO!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860415" y="3303174"/>
            <a:ext cx="5756567" cy="5756567"/>
            <a:chOff x="0" y="0"/>
            <a:chExt cx="7675423" cy="7675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75372" cy="7675372"/>
            </a:xfrm>
            <a:custGeom>
              <a:avLst/>
              <a:gdLst/>
              <a:ahLst/>
              <a:cxnLst/>
              <a:rect l="l" t="t" r="r" b="b"/>
              <a:pathLst>
                <a:path w="7675372" h="7675372">
                  <a:moveTo>
                    <a:pt x="0" y="0"/>
                  </a:moveTo>
                  <a:lnTo>
                    <a:pt x="7675372" y="0"/>
                  </a:lnTo>
                  <a:lnTo>
                    <a:pt x="7675372" y="7675372"/>
                  </a:lnTo>
                  <a:lnTo>
                    <a:pt x="0" y="7675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pt-BR" noProof="1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24400" y="8911809"/>
            <a:ext cx="802859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pt-BR" sz="2700" noProof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https://github.com/maurocollin/bigdata-saude-niteroi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880</Words>
  <Application>Microsoft Office PowerPoint</Application>
  <PresentationFormat>Personalizar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Arial</vt:lpstr>
      <vt:lpstr>Arimo</vt:lpstr>
      <vt:lpstr>Arial Bold</vt:lpstr>
      <vt:lpstr>Calibri</vt:lpstr>
      <vt:lpstr>Calibri (MS) Bold Italics</vt:lpstr>
      <vt:lpstr>Calibri (MS)</vt:lpstr>
      <vt:lpstr>Calibri (MS) Bold</vt:lpstr>
      <vt:lpstr>TT Rounds Condensed Bold</vt:lpstr>
      <vt:lpstr>Calibri (MS) Italics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apresentacao_final_EDITANDO.pptx</dc:title>
  <dc:creator>Hudson Mata</dc:creator>
  <cp:lastModifiedBy>Mauro Collin</cp:lastModifiedBy>
  <cp:revision>6</cp:revision>
  <dcterms:created xsi:type="dcterms:W3CDTF">2006-08-16T00:00:00Z</dcterms:created>
  <dcterms:modified xsi:type="dcterms:W3CDTF">2026-06-09T16:31:20Z</dcterms:modified>
  <dc:identifier>DAHLh9MD6kw</dc:identifier>
</cp:coreProperties>
</file>